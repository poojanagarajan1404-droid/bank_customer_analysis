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123-7BAB-4A2D-A1CC-0758A1D6F249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34C-71F6-49FE-A084-21F81F11D0B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790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123-7BAB-4A2D-A1CC-0758A1D6F249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34C-71F6-49FE-A084-21F81F11D0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73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123-7BAB-4A2D-A1CC-0758A1D6F249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34C-71F6-49FE-A084-21F81F11D0B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397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123-7BAB-4A2D-A1CC-0758A1D6F249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34C-71F6-49FE-A084-21F81F11D0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99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123-7BAB-4A2D-A1CC-0758A1D6F249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34C-71F6-49FE-A084-21F81F11D0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48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123-7BAB-4A2D-A1CC-0758A1D6F249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34C-71F6-49FE-A084-21F81F11D0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19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123-7BAB-4A2D-A1CC-0758A1D6F249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34C-71F6-49FE-A084-21F81F11D0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901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D65F123-7BAB-4A2D-A1CC-0758A1D6F249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EDD34C-71F6-49FE-A084-21F81F11D0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67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123-7BAB-4A2D-A1CC-0758A1D6F249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34C-71F6-49FE-A084-21F81F11D0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5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123-7BAB-4A2D-A1CC-0758A1D6F249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34C-71F6-49FE-A084-21F81F11D0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14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F123-7BAB-4A2D-A1CC-0758A1D6F249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34C-71F6-49FE-A084-21F81F11D0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3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D65F123-7BAB-4A2D-A1CC-0758A1D6F249}" type="datetimeFigureOut">
              <a:rPr lang="en-IN" smtClean="0"/>
              <a:t>17-09-2025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3EDD34C-71F6-49FE-A084-21F81F11D0B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60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265B-7107-44FE-6981-BE03E8260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8799"/>
            <a:ext cx="9144000" cy="1681163"/>
          </a:xfrm>
        </p:spPr>
        <p:txBody>
          <a:bodyPr>
            <a:normAutofit fontScale="90000"/>
          </a:bodyPr>
          <a:lstStyle/>
          <a:p>
            <a:r>
              <a:rPr lang="en-IN" sz="4800" b="1" dirty="0">
                <a:solidFill>
                  <a:schemeClr val="accent1">
                    <a:lumMod val="75000"/>
                  </a:schemeClr>
                </a:solidFill>
              </a:rPr>
              <a:t>TEAM B – </a:t>
            </a:r>
            <a:r>
              <a:rPr lang="en-IN" sz="4400" b="1" dirty="0">
                <a:solidFill>
                  <a:schemeClr val="accent1">
                    <a:lumMod val="75000"/>
                  </a:schemeClr>
                </a:solidFill>
              </a:rPr>
              <a:t>Bank Customer Transaction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B9F0E-3F61-E06F-0558-0FDF7869E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67396"/>
            <a:ext cx="9144000" cy="2190404"/>
          </a:xfrm>
        </p:spPr>
        <p:txBody>
          <a:bodyPr/>
          <a:lstStyle/>
          <a:p>
            <a:r>
              <a:rPr lang="en-IN" b="1" dirty="0"/>
              <a:t>🗓️ </a:t>
            </a:r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4-Week Project Schedule</a:t>
            </a: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85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3F4C4-E429-F47A-9878-3E0C91FB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6">
                    <a:lumMod val="50000"/>
                  </a:schemeClr>
                </a:solidFill>
              </a:rPr>
              <a:t>Week 1: Data Collection + Cleaning (Excel)</a:t>
            </a:r>
            <a:endParaRPr lang="en-IN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BD976-ED71-2643-F3EB-5E972B213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600" b="1" u="sng" dirty="0">
                <a:solidFill>
                  <a:schemeClr val="accent6">
                    <a:lumMod val="50000"/>
                  </a:schemeClr>
                </a:solidFill>
              </a:rPr>
              <a:t>Tasks:</a:t>
            </a:r>
            <a:endParaRPr lang="en-IN" sz="2600" u="sng" dirty="0">
              <a:solidFill>
                <a:schemeClr val="accent6">
                  <a:lumMod val="50000"/>
                </a:schemeClr>
              </a:solidFill>
            </a:endParaRPr>
          </a:p>
          <a:p>
            <a:pPr lvl="0"/>
            <a:r>
              <a:rPr lang="en-IN" sz="2000" dirty="0"/>
              <a:t>Downloaded dataset from “</a:t>
            </a:r>
            <a:r>
              <a:rPr lang="en-IN" sz="2000" b="1" dirty="0"/>
              <a:t>Kaggle”</a:t>
            </a:r>
            <a:r>
              <a:rPr lang="en-IN" sz="2000" dirty="0"/>
              <a:t> and understood the columns.</a:t>
            </a:r>
          </a:p>
          <a:p>
            <a:pPr lvl="0"/>
            <a:r>
              <a:rPr lang="en-IN" sz="2000" dirty="0"/>
              <a:t>Imported dataset into Excel.</a:t>
            </a:r>
          </a:p>
          <a:p>
            <a:pPr lvl="0"/>
            <a:r>
              <a:rPr lang="en-IN" sz="2000" dirty="0"/>
              <a:t>Explored data (transactions, customers, fraud, RFM).</a:t>
            </a:r>
          </a:p>
          <a:p>
            <a:pPr lvl="0"/>
            <a:r>
              <a:rPr lang="en-IN" sz="2000" dirty="0"/>
              <a:t>By using power Query Identified and handled missing values.</a:t>
            </a:r>
          </a:p>
          <a:p>
            <a:pPr lvl="0"/>
            <a:r>
              <a:rPr lang="en-IN" sz="2000" dirty="0"/>
              <a:t>Removed duplicates.</a:t>
            </a:r>
          </a:p>
          <a:p>
            <a:pPr lvl="0"/>
            <a:r>
              <a:rPr lang="en-IN" sz="2000" dirty="0"/>
              <a:t>Corrected date formats → =DATE(YEAR(A2), MONTH(A2), DAY(A2)) / TEXT ().</a:t>
            </a:r>
          </a:p>
          <a:p>
            <a:pPr marL="0" lv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200" b="1" dirty="0">
                <a:solidFill>
                  <a:schemeClr val="accent6">
                    <a:lumMod val="50000"/>
                  </a:schemeClr>
                </a:solidFill>
              </a:rPr>
              <a:t>Output</a:t>
            </a:r>
            <a:r>
              <a:rPr lang="en-IN" sz="2600" dirty="0"/>
              <a:t> - </a:t>
            </a:r>
            <a:r>
              <a:rPr lang="en-IN" sz="2000" dirty="0"/>
              <a:t>A Clean Dataset (ready for SQL import).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7028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A221C-FB73-3DDE-F6A1-4C4A95738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3385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Week 2: Data Analysis (SQL)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6C142-578E-B119-A4FE-671283A88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3400" b="1" u="sng" dirty="0">
                <a:solidFill>
                  <a:schemeClr val="accent6">
                    <a:lumMod val="50000"/>
                  </a:schemeClr>
                </a:solidFill>
              </a:rPr>
              <a:t>Tasks</a:t>
            </a:r>
            <a:r>
              <a:rPr lang="en-IN" sz="2900" b="1" u="sng" dirty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IN" sz="2900" u="sng" dirty="0">
              <a:solidFill>
                <a:schemeClr val="accent6">
                  <a:lumMod val="50000"/>
                </a:schemeClr>
              </a:solidFill>
            </a:endParaRPr>
          </a:p>
          <a:p>
            <a:pPr lvl="0"/>
            <a:r>
              <a:rPr lang="en-IN" sz="2100" dirty="0"/>
              <a:t>Import cleaned Excel/CSV files into SQL database.</a:t>
            </a:r>
          </a:p>
          <a:p>
            <a:pPr lvl="0"/>
            <a:r>
              <a:rPr lang="en-IN" sz="2100" dirty="0"/>
              <a:t>Create relational tables (Customer, Transactions, Fraud, RFM).</a:t>
            </a:r>
          </a:p>
          <a:p>
            <a:pPr lvl="0"/>
            <a:r>
              <a:rPr lang="en-IN" sz="2100" dirty="0"/>
              <a:t>Perform queries using:</a:t>
            </a:r>
          </a:p>
          <a:p>
            <a:pPr lvl="0"/>
            <a:r>
              <a:rPr lang="en-IN" sz="2400" b="1" dirty="0"/>
              <a:t>Aggregation</a:t>
            </a:r>
            <a:r>
              <a:rPr lang="en-IN" sz="2200" b="1" dirty="0"/>
              <a:t> </a:t>
            </a:r>
            <a:r>
              <a:rPr lang="en-IN" sz="2400" b="1" dirty="0"/>
              <a:t>functions</a:t>
            </a:r>
            <a:r>
              <a:rPr lang="en-IN" sz="2200" dirty="0"/>
              <a:t> →</a:t>
            </a:r>
            <a:r>
              <a:rPr lang="en-IN" sz="2400" dirty="0"/>
              <a:t> </a:t>
            </a:r>
            <a:r>
              <a:rPr lang="en-IN" sz="1900" dirty="0"/>
              <a:t>COUNT (), SUM (), AVG (), MAX (), MIN () grouped by customer and region.</a:t>
            </a:r>
          </a:p>
          <a:p>
            <a:pPr lvl="0"/>
            <a:r>
              <a:rPr lang="en-IN" sz="2200" b="1" dirty="0"/>
              <a:t>Grouping</a:t>
            </a:r>
            <a:r>
              <a:rPr lang="en-IN" sz="2200" dirty="0"/>
              <a:t> → </a:t>
            </a:r>
            <a:r>
              <a:rPr lang="en-IN" sz="2100" dirty="0"/>
              <a:t>GROUP BY (e.g., transactions per customer, sales per month).</a:t>
            </a:r>
          </a:p>
          <a:p>
            <a:pPr lvl="0"/>
            <a:r>
              <a:rPr lang="en-IN" sz="2400" b="1" dirty="0"/>
              <a:t>Joins</a:t>
            </a:r>
            <a:r>
              <a:rPr lang="en-IN" sz="2400" dirty="0"/>
              <a:t> → </a:t>
            </a:r>
            <a:r>
              <a:rPr lang="en-IN" sz="2100" dirty="0"/>
              <a:t>INNER JOIN, LEFT JOIN (to combine customers &amp; transactions).</a:t>
            </a:r>
          </a:p>
          <a:p>
            <a:pPr lvl="0"/>
            <a:r>
              <a:rPr lang="en-IN" sz="2400" b="1" dirty="0"/>
              <a:t>Filters &amp; Sorting</a:t>
            </a:r>
            <a:r>
              <a:rPr lang="en-IN" sz="2400" dirty="0"/>
              <a:t> → </a:t>
            </a:r>
            <a:r>
              <a:rPr lang="en-IN" sz="1900" dirty="0"/>
              <a:t>WHERE, ORDER BY, LIMIT.</a:t>
            </a:r>
          </a:p>
          <a:p>
            <a:pPr lvl="0"/>
            <a:r>
              <a:rPr lang="en-IN" sz="2400" b="1" dirty="0"/>
              <a:t>Segmentation</a:t>
            </a:r>
            <a:r>
              <a:rPr lang="en-IN" sz="2400" dirty="0"/>
              <a:t> → </a:t>
            </a:r>
            <a:r>
              <a:rPr lang="en-IN" sz="1900" dirty="0"/>
              <a:t>Age groups, gender counts, RFM segmentation with CASE WHEN.</a:t>
            </a:r>
          </a:p>
          <a:p>
            <a:pPr marL="0" lvl="0" indent="0">
              <a:buNone/>
            </a:pPr>
            <a:r>
              <a:rPr lang="en-IN" sz="2400" b="1" u="sng" dirty="0" err="1">
                <a:solidFill>
                  <a:schemeClr val="accent6">
                    <a:lumMod val="50000"/>
                  </a:schemeClr>
                </a:solidFill>
              </a:rPr>
              <a:t>Analyze</a:t>
            </a:r>
            <a:r>
              <a:rPr lang="en-IN" sz="2400" b="1" u="sng" dirty="0">
                <a:solidFill>
                  <a:schemeClr val="accent6">
                    <a:lumMod val="50000"/>
                  </a:schemeClr>
                </a:solidFill>
              </a:rPr>
              <a:t> KPIs:</a:t>
            </a:r>
          </a:p>
          <a:p>
            <a:pPr lvl="1"/>
            <a:r>
              <a:rPr lang="en-IN" sz="2100" dirty="0"/>
              <a:t>Location-wise customer count.</a:t>
            </a:r>
          </a:p>
          <a:p>
            <a:pPr lvl="1"/>
            <a:r>
              <a:rPr lang="en-IN" sz="2100" dirty="0"/>
              <a:t>Monthly transaction trends.</a:t>
            </a:r>
          </a:p>
          <a:p>
            <a:pPr lvl="1"/>
            <a:r>
              <a:rPr lang="en-IN" sz="2100" dirty="0"/>
              <a:t>Active vs inactive customers.</a:t>
            </a:r>
          </a:p>
          <a:p>
            <a:pPr lvl="1"/>
            <a:r>
              <a:rPr lang="en-IN" sz="2100" dirty="0"/>
              <a:t>Top 10 customers by spending.</a:t>
            </a:r>
          </a:p>
          <a:p>
            <a:pPr lvl="1"/>
            <a:r>
              <a:rPr lang="en-IN" sz="2100" dirty="0"/>
              <a:t>Male vs female ratio.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4248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83E70-843B-FB23-A6E6-F5F92341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6">
                    <a:lumMod val="50000"/>
                  </a:schemeClr>
                </a:solidFill>
              </a:rPr>
              <a:t>Week 3 – Dashboard Preparation (Power BI)</a:t>
            </a:r>
            <a:endParaRPr lang="en-IN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7AD3E-AA83-EB78-E0CA-BEFA64218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>
                <a:solidFill>
                  <a:schemeClr val="accent6">
                    <a:lumMod val="50000"/>
                  </a:schemeClr>
                </a:solidFill>
              </a:rPr>
              <a:t>Tasks:</a:t>
            </a:r>
            <a:endParaRPr lang="en-IN" sz="2400" u="sng" dirty="0">
              <a:solidFill>
                <a:schemeClr val="accent6">
                  <a:lumMod val="50000"/>
                </a:schemeClr>
              </a:solidFill>
            </a:endParaRPr>
          </a:p>
          <a:p>
            <a:pPr lvl="0"/>
            <a:r>
              <a:rPr lang="en-IN" sz="2000" b="1" dirty="0"/>
              <a:t>Imported Clean/SQL Data</a:t>
            </a:r>
            <a:r>
              <a:rPr lang="en-IN" sz="2000" dirty="0"/>
              <a:t> </a:t>
            </a:r>
            <a:r>
              <a:rPr lang="en-IN" sz="1800" dirty="0"/>
              <a:t>(CSV/Excel).</a:t>
            </a:r>
          </a:p>
          <a:p>
            <a:pPr lvl="0"/>
            <a:r>
              <a:rPr lang="en-IN" sz="2000" b="1" dirty="0"/>
              <a:t>Create Visuals:</a:t>
            </a:r>
            <a:endParaRPr lang="en-IN" sz="2000" dirty="0"/>
          </a:p>
          <a:p>
            <a:pPr lvl="1"/>
            <a:r>
              <a:rPr lang="en-IN" sz="2000" b="1" dirty="0"/>
              <a:t>Customer Demographics</a:t>
            </a:r>
            <a:r>
              <a:rPr lang="en-IN" sz="2000" dirty="0"/>
              <a:t> → </a:t>
            </a:r>
            <a:r>
              <a:rPr lang="en-IN" sz="1800" dirty="0"/>
              <a:t>Pie chart (Gender, Age).</a:t>
            </a:r>
          </a:p>
          <a:p>
            <a:pPr lvl="1"/>
            <a:r>
              <a:rPr lang="en-IN" sz="2000" b="1" dirty="0"/>
              <a:t>Monthly Transaction Trends</a:t>
            </a:r>
            <a:r>
              <a:rPr lang="en-IN" sz="2000" dirty="0"/>
              <a:t> → </a:t>
            </a:r>
            <a:r>
              <a:rPr lang="en-IN" sz="1800" dirty="0"/>
              <a:t>Line chart.</a:t>
            </a:r>
          </a:p>
          <a:p>
            <a:pPr lvl="1"/>
            <a:r>
              <a:rPr lang="en-IN" sz="2000" b="1" dirty="0"/>
              <a:t>Deposits vs Withdrawals</a:t>
            </a:r>
            <a:r>
              <a:rPr lang="en-IN" sz="2000" dirty="0"/>
              <a:t> → </a:t>
            </a:r>
            <a:r>
              <a:rPr lang="en-IN" sz="1800" dirty="0"/>
              <a:t>Clustered Bar.</a:t>
            </a:r>
          </a:p>
          <a:p>
            <a:pPr lvl="1"/>
            <a:r>
              <a:rPr lang="en-IN" sz="2000" b="1" dirty="0"/>
              <a:t>Top 10 High-Value Customers</a:t>
            </a:r>
            <a:r>
              <a:rPr lang="en-IN" sz="2000" dirty="0"/>
              <a:t> → </a:t>
            </a:r>
            <a:r>
              <a:rPr lang="en-IN" sz="1800" dirty="0"/>
              <a:t>Table/Bar chart</a:t>
            </a:r>
            <a:r>
              <a:rPr lang="en-IN" sz="2200" dirty="0"/>
              <a:t>.</a:t>
            </a:r>
          </a:p>
          <a:p>
            <a:pPr lvl="1"/>
            <a:r>
              <a:rPr lang="en-IN" sz="2000" b="1" dirty="0"/>
              <a:t>KPIs (Cards):</a:t>
            </a:r>
            <a:r>
              <a:rPr lang="en-IN" sz="2000" dirty="0"/>
              <a:t> </a:t>
            </a:r>
            <a:r>
              <a:rPr lang="en-IN" sz="1800" dirty="0"/>
              <a:t>Total Transactions, </a:t>
            </a:r>
            <a:r>
              <a:rPr lang="en-IN" sz="1800" dirty="0" err="1"/>
              <a:t>Avg</a:t>
            </a:r>
            <a:r>
              <a:rPr lang="en-IN" sz="1800" dirty="0"/>
              <a:t> Balance, Active Customers.</a:t>
            </a:r>
          </a:p>
          <a:p>
            <a:pPr lvl="0"/>
            <a:r>
              <a:rPr lang="en-IN" sz="2000" b="1" dirty="0"/>
              <a:t>Added Filters &amp; Slicers:</a:t>
            </a:r>
            <a:r>
              <a:rPr lang="en-IN" sz="2000" dirty="0"/>
              <a:t> </a:t>
            </a:r>
            <a:r>
              <a:rPr lang="en-IN" sz="1800" dirty="0"/>
              <a:t>Region, Gender, Transaction Type, Date Range.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643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6550A-51EB-FFAC-9358-A8F428613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accent6">
                    <a:lumMod val="50000"/>
                  </a:schemeClr>
                </a:solidFill>
              </a:rPr>
              <a:t>Final Insights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0CE24-182E-9FAE-606A-8E0F1B9D8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400" b="1" dirty="0"/>
              <a:t>Customer Segmentation:</a:t>
            </a:r>
            <a:r>
              <a:rPr lang="en-IN" sz="2400" dirty="0"/>
              <a:t> </a:t>
            </a:r>
            <a:r>
              <a:rPr lang="en-IN" sz="2000" dirty="0"/>
              <a:t>Total customers analyzed by </a:t>
            </a:r>
            <a:r>
              <a:rPr lang="en-IN" sz="2000" b="1" dirty="0"/>
              <a:t>age, gender, region</a:t>
            </a:r>
            <a:r>
              <a:rPr lang="en-IN" sz="2000" dirty="0"/>
              <a:t>, and </a:t>
            </a:r>
            <a:r>
              <a:rPr lang="en-IN" sz="2000" b="1" dirty="0"/>
              <a:t>active vs inactive</a:t>
            </a:r>
            <a:r>
              <a:rPr lang="en-IN" sz="2000" dirty="0"/>
              <a:t>.</a:t>
            </a:r>
          </a:p>
          <a:p>
            <a:pPr lvl="0"/>
            <a:r>
              <a:rPr lang="en-IN" sz="2400" b="1" dirty="0"/>
              <a:t>Top Customers:</a:t>
            </a:r>
            <a:r>
              <a:rPr lang="en-IN" sz="2400" dirty="0"/>
              <a:t> </a:t>
            </a:r>
            <a:r>
              <a:rPr lang="en-IN" sz="2000" dirty="0"/>
              <a:t>Identified </a:t>
            </a:r>
            <a:r>
              <a:rPr lang="en-IN" sz="2000" b="1" dirty="0"/>
              <a:t>top 10 high-value customers</a:t>
            </a:r>
            <a:r>
              <a:rPr lang="en-IN" sz="2000" dirty="0"/>
              <a:t> and their spending patterns.</a:t>
            </a:r>
          </a:p>
          <a:p>
            <a:pPr lvl="0"/>
            <a:r>
              <a:rPr lang="en-IN" sz="2400" b="1" dirty="0"/>
              <a:t>Transaction Trends:</a:t>
            </a:r>
            <a:r>
              <a:rPr lang="en-IN" sz="2400" dirty="0"/>
              <a:t> </a:t>
            </a:r>
            <a:r>
              <a:rPr lang="en-IN" sz="2000" dirty="0"/>
              <a:t>Monthly transactions with </a:t>
            </a:r>
            <a:r>
              <a:rPr lang="en-IN" sz="2000" b="1" dirty="0"/>
              <a:t>deposits vs withdrawals</a:t>
            </a:r>
            <a:r>
              <a:rPr lang="en-IN" sz="2000" dirty="0"/>
              <a:t> analysis.</a:t>
            </a:r>
          </a:p>
          <a:p>
            <a:pPr lvl="0"/>
            <a:r>
              <a:rPr lang="en-IN" sz="2400" b="1" dirty="0"/>
              <a:t>RFM &amp; Retention Insights:</a:t>
            </a:r>
            <a:r>
              <a:rPr lang="en-IN" sz="2400" dirty="0"/>
              <a:t> </a:t>
            </a:r>
            <a:r>
              <a:rPr lang="en-IN" sz="2000" dirty="0"/>
              <a:t>Segmented customers into </a:t>
            </a:r>
            <a:r>
              <a:rPr lang="en-IN" sz="2000" b="1" dirty="0"/>
              <a:t>loyal, at-risk, and high-value</a:t>
            </a:r>
            <a:r>
              <a:rPr lang="en-IN" sz="2000" dirty="0"/>
              <a:t> to improve </a:t>
            </a:r>
            <a:r>
              <a:rPr lang="en-IN" sz="2000" b="1" dirty="0"/>
              <a:t>customer retention</a:t>
            </a:r>
            <a:r>
              <a:rPr lang="en-IN" sz="2600" dirty="0"/>
              <a:t>.</a:t>
            </a:r>
          </a:p>
          <a:p>
            <a:pPr lvl="0"/>
            <a:r>
              <a:rPr lang="en-IN" sz="2400" b="1" dirty="0"/>
              <a:t>Key KPIs &amp; Recommendations:</a:t>
            </a:r>
            <a:r>
              <a:rPr lang="en-IN" sz="2400" dirty="0"/>
              <a:t> </a:t>
            </a:r>
            <a:r>
              <a:rPr lang="en-IN" sz="2000" dirty="0"/>
              <a:t>Total transactions, average balance, gender ratio, with actionable strategies for </a:t>
            </a:r>
            <a:r>
              <a:rPr lang="en-IN" sz="2000" b="1" dirty="0"/>
              <a:t>promotions, engagement, and fraud monitoring</a:t>
            </a:r>
            <a:r>
              <a:rPr lang="en-IN" sz="2000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7417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</TotalTime>
  <Words>411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Retrospect</vt:lpstr>
      <vt:lpstr>TEAM B – Bank Customer Transaction Analysis </vt:lpstr>
      <vt:lpstr>Week 1: Data Collection + Cleaning (Excel)</vt:lpstr>
      <vt:lpstr>Week 2: Data Analysis (SQL)</vt:lpstr>
      <vt:lpstr>Week 3 – Dashboard Preparation (Power BI)</vt:lpstr>
      <vt:lpstr>Final Insights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Nandhine Pandurangan</dc:creator>
  <cp:lastModifiedBy>Nandhine Pandurangan</cp:lastModifiedBy>
  <cp:revision>6</cp:revision>
  <dcterms:created xsi:type="dcterms:W3CDTF">2025-09-16T19:47:42Z</dcterms:created>
  <dcterms:modified xsi:type="dcterms:W3CDTF">2025-09-16T20:31:56Z</dcterms:modified>
</cp:coreProperties>
</file>