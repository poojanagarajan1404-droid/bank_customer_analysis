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296" y="-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4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43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8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7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8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9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5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3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53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18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1B02FD6-A070-4020-B6B0-123FE3BF8E7D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5CFCCB7-7E17-44B3-BFED-69D0DF95644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5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1C92-F598-B539-0C82-14C78846A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42906"/>
            <a:ext cx="9753600" cy="1191237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accent2">
                    <a:lumMod val="50000"/>
                  </a:schemeClr>
                </a:solidFill>
                <a:latin typeface="Baskerville Old Face" panose="02020602080505020303" pitchFamily="18" charset="0"/>
              </a:rPr>
              <a:t>       </a:t>
            </a:r>
            <a:r>
              <a:rPr lang="en-IN" b="1" dirty="0">
                <a:solidFill>
                  <a:schemeClr val="tx1">
                    <a:lumMod val="85000"/>
                  </a:schemeClr>
                </a:solidFill>
                <a:latin typeface="Baskerville Old Face" panose="02020602080505020303" pitchFamily="18" charset="0"/>
              </a:rPr>
              <a:t>Bank Customer Transaction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64FF8-3E1D-37BB-4960-E9FBFAAA6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634143"/>
            <a:ext cx="9753600" cy="146807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2">
                    <a:lumMod val="50000"/>
                  </a:schemeClr>
                </a:solidFill>
              </a:rPr>
              <a:t>                                   </a:t>
            </a:r>
            <a:r>
              <a:rPr lang="en-IN" sz="2800" b="1" dirty="0">
                <a:solidFill>
                  <a:schemeClr val="tx1">
                    <a:lumMod val="85000"/>
                  </a:schemeClr>
                </a:solidFill>
              </a:rPr>
              <a:t>Week - 3 (SQL)</a:t>
            </a:r>
          </a:p>
        </p:txBody>
      </p:sp>
    </p:spTree>
    <p:extLst>
      <p:ext uri="{BB962C8B-B14F-4D97-AF65-F5344CB8AC3E}">
        <p14:creationId xmlns:p14="http://schemas.microsoft.com/office/powerpoint/2010/main" val="2146224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8C9C-12DF-78F5-AD03-CF18760DA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/>
              <a:t>Total no.of Unique Customers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CC02D-306D-E1E7-4E85-50A2F4525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Query</a:t>
            </a:r>
            <a:r>
              <a:rPr lang="en-IN" b="1" dirty="0"/>
              <a:t>:</a:t>
            </a:r>
            <a:r>
              <a:rPr lang="en-IN" sz="2000" dirty="0"/>
              <a:t> Uses UNION and COUNT(DISTINCT Customer_ID)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200" b="1" dirty="0"/>
              <a:t>Purpose</a:t>
            </a:r>
            <a:r>
              <a:rPr lang="en-IN" b="1" dirty="0"/>
              <a:t>:</a:t>
            </a:r>
            <a:r>
              <a:rPr lang="en-IN" dirty="0"/>
              <a:t> </a:t>
            </a:r>
          </a:p>
          <a:p>
            <a:r>
              <a:rPr lang="en-GB" sz="2000" dirty="0"/>
              <a:t>UNION automatically removes duplicates between all tables.</a:t>
            </a:r>
          </a:p>
          <a:p>
            <a:r>
              <a:rPr lang="en-GB" sz="2000" dirty="0"/>
              <a:t>Then COUNT(DISTINCT </a:t>
            </a:r>
            <a:r>
              <a:rPr lang="en-GB" sz="2000" dirty="0" err="1"/>
              <a:t>Customer_ID</a:t>
            </a:r>
            <a:r>
              <a:rPr lang="en-GB" sz="2000" dirty="0"/>
              <a:t>) gives the total unique customers across all sources.</a:t>
            </a:r>
          </a:p>
          <a:p>
            <a:r>
              <a:rPr lang="en-GB" sz="2000" dirty="0"/>
              <a:t>You’ll get one clean number, even if a customer appears in 2–3 times  in worksheets.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4615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9FD4-6D4F-1259-4070-638B3D36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/>
              <a:t>Monthly transaction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E6803-35E0-AB89-1D88-958080B79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6914"/>
            <a:ext cx="10515600" cy="4630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b="1" dirty="0"/>
              <a:t>Query</a:t>
            </a:r>
            <a:r>
              <a:rPr lang="en-GB" sz="2400" b="1" dirty="0"/>
              <a:t> :</a:t>
            </a:r>
            <a:r>
              <a:rPr lang="en-GB" b="1" dirty="0"/>
              <a:t> </a:t>
            </a:r>
            <a:r>
              <a:rPr lang="en-IN" sz="2000" dirty="0"/>
              <a:t>Count, Sum, </a:t>
            </a:r>
            <a:r>
              <a:rPr lang="en-IN" sz="2000" dirty="0" err="1"/>
              <a:t>Avg</a:t>
            </a:r>
            <a:r>
              <a:rPr lang="en-IN" sz="2000" dirty="0"/>
              <a:t>, From, Where, Group By, Order By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GB" sz="2200" b="1" dirty="0"/>
              <a:t>Purpose</a:t>
            </a:r>
            <a:r>
              <a:rPr lang="en-GB" sz="2400" b="1" dirty="0"/>
              <a:t>:</a:t>
            </a:r>
          </a:p>
          <a:p>
            <a:r>
              <a:rPr lang="en-GB" sz="2000" b="1" dirty="0"/>
              <a:t>DATE_FORMAT(STR_TO_DATE(...), '%Y-%m')</a:t>
            </a:r>
            <a:r>
              <a:rPr lang="en-GB" sz="2000" dirty="0"/>
              <a:t> converts the transaction date into a “Year-Month” format (e.g., 2025-01, 2025-02), allowing monthly grouping.</a:t>
            </a:r>
          </a:p>
          <a:p>
            <a:r>
              <a:rPr lang="en-GB" sz="2000" b="1" dirty="0"/>
              <a:t>COUNT(TransactionID)</a:t>
            </a:r>
            <a:r>
              <a:rPr lang="en-GB" sz="2000" dirty="0"/>
              <a:t> counts how many transactions happened each month.</a:t>
            </a:r>
          </a:p>
          <a:p>
            <a:r>
              <a:rPr lang="en-GB" sz="2000" b="1" dirty="0"/>
              <a:t>SUM(TransactionAmount)</a:t>
            </a:r>
            <a:r>
              <a:rPr lang="en-GB" sz="2000" dirty="0"/>
              <a:t> calculates the total transaction amount (sales) per month.</a:t>
            </a:r>
          </a:p>
          <a:p>
            <a:r>
              <a:rPr lang="en-GB" sz="2000" b="1" dirty="0"/>
              <a:t>AVG(CustAccountBalance)</a:t>
            </a:r>
            <a:r>
              <a:rPr lang="en-GB" sz="2000" dirty="0"/>
              <a:t> finds the average account balance of customers during that month.</a:t>
            </a:r>
          </a:p>
          <a:p>
            <a:r>
              <a:rPr lang="en-GB" sz="2000" b="1" dirty="0"/>
              <a:t>GROUP BY Month</a:t>
            </a:r>
            <a:r>
              <a:rPr lang="en-GB" sz="2000" dirty="0"/>
              <a:t> organizes data month-wise.</a:t>
            </a:r>
          </a:p>
          <a:p>
            <a:r>
              <a:rPr lang="en-GB" sz="2000" b="1" dirty="0"/>
              <a:t>ORDER BY Month</a:t>
            </a:r>
            <a:r>
              <a:rPr lang="en-GB" sz="2000" dirty="0"/>
              <a:t> displays the result in chronological order.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579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30B9-83CB-F026-5B96-34CFBEC9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/>
              <a:t>Customer counts as per RFM segment with Active vs Inactive customer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BC70F-3DC5-5D82-7759-5094D01F1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Query</a:t>
            </a:r>
            <a:r>
              <a:rPr lang="en-IN" dirty="0"/>
              <a:t> : </a:t>
            </a:r>
            <a:r>
              <a:rPr lang="en-IN" sz="2000" b="1" dirty="0"/>
              <a:t>Count, Group By, Order By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GB" sz="2000" b="1" dirty="0"/>
              <a:t>Purpose:</a:t>
            </a:r>
          </a:p>
          <a:p>
            <a:r>
              <a:rPr lang="en-GB" sz="2000" b="1" dirty="0"/>
              <a:t>GROUP BY Segment</a:t>
            </a:r>
            <a:r>
              <a:rPr lang="en-GB" sz="2000" dirty="0"/>
              <a:t> groups customers based on their RFM segment (e.g., </a:t>
            </a:r>
            <a:r>
              <a:rPr lang="en-GB" sz="2000" i="1" dirty="0"/>
              <a:t>Loyal</a:t>
            </a:r>
            <a:r>
              <a:rPr lang="en-GB" sz="2000" dirty="0"/>
              <a:t>, </a:t>
            </a:r>
            <a:r>
              <a:rPr lang="en-GB" sz="2000" i="1" dirty="0"/>
              <a:t>At Risk</a:t>
            </a:r>
            <a:r>
              <a:rPr lang="en-GB" sz="2000" dirty="0"/>
              <a:t>, </a:t>
            </a:r>
            <a:r>
              <a:rPr lang="en-GB" sz="2000" i="1" dirty="0"/>
              <a:t>New</a:t>
            </a:r>
            <a:r>
              <a:rPr lang="en-GB" sz="2000" dirty="0"/>
              <a:t>, etc.).</a:t>
            </a:r>
          </a:p>
          <a:p>
            <a:r>
              <a:rPr lang="en-GB" sz="2000" b="1" dirty="0"/>
              <a:t>COUNT(*)</a:t>
            </a:r>
            <a:r>
              <a:rPr lang="en-GB" sz="2000" dirty="0"/>
              <a:t> counts how many customers belong to each segment.</a:t>
            </a:r>
          </a:p>
          <a:p>
            <a:r>
              <a:rPr lang="en-GB" sz="2000" b="1" dirty="0"/>
              <a:t>ORDER BY </a:t>
            </a:r>
            <a:r>
              <a:rPr lang="en-GB" sz="2000" b="1" dirty="0" err="1"/>
              <a:t>CustomerCount</a:t>
            </a:r>
            <a:r>
              <a:rPr lang="en-GB" sz="2000" b="1" dirty="0"/>
              <a:t> DESC</a:t>
            </a:r>
            <a:r>
              <a:rPr lang="en-GB" sz="2000" dirty="0"/>
              <a:t> sorts the results from the segment with the </a:t>
            </a:r>
            <a:r>
              <a:rPr lang="en-GB" sz="2000" b="1" dirty="0"/>
              <a:t>highest</a:t>
            </a:r>
            <a:r>
              <a:rPr lang="en-GB" sz="2000" dirty="0"/>
              <a:t> number of customers to the </a:t>
            </a:r>
            <a:r>
              <a:rPr lang="en-GB" sz="2000" b="1" dirty="0"/>
              <a:t>lowest</a:t>
            </a:r>
            <a:r>
              <a:rPr lang="en-GB" sz="20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4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3648D-9FEF-3F29-A042-6DA4184C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/>
              <a:t>Top 10 customers Domestic and Foreign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87FA-D33A-6071-1781-3F0584C3C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200" b="1" dirty="0"/>
              <a:t>Query : Sum, Group By, Order By, Union All</a:t>
            </a:r>
          </a:p>
          <a:p>
            <a:pPr marL="0" indent="0">
              <a:buNone/>
            </a:pPr>
            <a:endParaRPr lang="en-GB" sz="2200" b="1" dirty="0"/>
          </a:p>
          <a:p>
            <a:pPr marL="0" indent="0">
              <a:buNone/>
            </a:pPr>
            <a:r>
              <a:rPr lang="en-GB" sz="2200" b="1" dirty="0"/>
              <a:t>Purpose:</a:t>
            </a:r>
          </a:p>
          <a:p>
            <a:r>
              <a:rPr lang="en-GB" sz="2200" b="1" dirty="0"/>
              <a:t>Combines domestic and foreign customer transactions</a:t>
            </a:r>
            <a:r>
              <a:rPr lang="en-GB" sz="2200" dirty="0"/>
              <a:t> into one dataset using </a:t>
            </a:r>
            <a:r>
              <a:rPr lang="en-GB" sz="2200" b="1" dirty="0"/>
              <a:t>UNION ALL</a:t>
            </a:r>
            <a:r>
              <a:rPr lang="en-GB" sz="2200" dirty="0"/>
              <a:t> (keeps all records without removing duplicates).</a:t>
            </a:r>
          </a:p>
          <a:p>
            <a:r>
              <a:rPr lang="en-GB" sz="2200" b="1" dirty="0"/>
              <a:t>SUM(TransactionAmount)</a:t>
            </a:r>
            <a:r>
              <a:rPr lang="en-GB" sz="2200" dirty="0"/>
              <a:t> (and CAST for data type consistency) calculates each customer’s </a:t>
            </a:r>
            <a:r>
              <a:rPr lang="en-GB" sz="2200" b="1" dirty="0"/>
              <a:t>total spending</a:t>
            </a:r>
            <a:r>
              <a:rPr lang="en-GB" sz="2200" dirty="0"/>
              <a:t> in both tables.</a:t>
            </a:r>
          </a:p>
          <a:p>
            <a:r>
              <a:rPr lang="en-GB" sz="2200" b="1" dirty="0"/>
              <a:t>Outer GROUP BY</a:t>
            </a:r>
            <a:r>
              <a:rPr lang="en-GB" sz="2200" dirty="0"/>
              <a:t> merges duplicate customer entries across both sources to get their </a:t>
            </a:r>
            <a:r>
              <a:rPr lang="en-GB" sz="2200" b="1" dirty="0"/>
              <a:t>overall total spent</a:t>
            </a:r>
            <a:r>
              <a:rPr lang="en-GB" sz="2200" dirty="0"/>
              <a:t>.</a:t>
            </a:r>
          </a:p>
          <a:p>
            <a:r>
              <a:rPr lang="en-GB" sz="2200" b="1" dirty="0"/>
              <a:t>ORDER BY </a:t>
            </a:r>
            <a:r>
              <a:rPr lang="en-GB" sz="2200" b="1" dirty="0" err="1"/>
              <a:t>total_spent</a:t>
            </a:r>
            <a:r>
              <a:rPr lang="en-GB" sz="2200" b="1" dirty="0"/>
              <a:t> DESC</a:t>
            </a:r>
            <a:r>
              <a:rPr lang="en-GB" sz="2200" dirty="0"/>
              <a:t> ranks customers from highest to lowest spenders.</a:t>
            </a:r>
          </a:p>
          <a:p>
            <a:r>
              <a:rPr lang="en-GB" sz="2200" b="1" dirty="0"/>
              <a:t>LIMIT 10</a:t>
            </a:r>
            <a:r>
              <a:rPr lang="en-GB" sz="2200" dirty="0"/>
              <a:t> shows only the </a:t>
            </a:r>
            <a:r>
              <a:rPr lang="en-GB" sz="2200" b="1" dirty="0"/>
              <a:t>top 10 customers</a:t>
            </a:r>
            <a:r>
              <a:rPr lang="en-GB" sz="2200" dirty="0"/>
              <a:t> based on total spending.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25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BAAE-356A-FC4A-A3E3-2BAE8A56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dirty="0"/>
              <a:t>Overall Male vs Female ratio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673BA-F3FD-DE7A-6269-7BA7481BA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Query : Count, Group By, Sum</a:t>
            </a:r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Purpose:</a:t>
            </a:r>
            <a:endParaRPr lang="en-GB" sz="2000" dirty="0"/>
          </a:p>
          <a:p>
            <a:r>
              <a:rPr lang="en-GB" sz="2000" dirty="0"/>
              <a:t>GROUP BY </a:t>
            </a:r>
            <a:r>
              <a:rPr lang="en-GB" sz="2000" dirty="0" err="1"/>
              <a:t>CustGender</a:t>
            </a:r>
            <a:r>
              <a:rPr lang="en-GB" sz="2000" dirty="0"/>
              <a:t> groups all records by gender (Male, Female, etc.).</a:t>
            </a:r>
          </a:p>
          <a:p>
            <a:endParaRPr lang="en-GB" sz="2000" dirty="0"/>
          </a:p>
          <a:p>
            <a:r>
              <a:rPr lang="en-GB" sz="2000" dirty="0"/>
              <a:t>COUNT(</a:t>
            </a:r>
            <a:r>
              <a:rPr lang="en-GB" sz="2000" dirty="0" err="1"/>
              <a:t>CustomerID</a:t>
            </a:r>
            <a:r>
              <a:rPr lang="en-GB" sz="2000" dirty="0"/>
              <a:t>) counts how many customers belong to each gender group.</a:t>
            </a:r>
          </a:p>
          <a:p>
            <a:endParaRPr lang="en-GB" sz="2000" dirty="0"/>
          </a:p>
          <a:p>
            <a:r>
              <a:rPr lang="en-GB" sz="2000" dirty="0"/>
              <a:t>Uses conditional aggregation (CASE WHEN) to separately count male and female customers in a single result row.</a:t>
            </a:r>
          </a:p>
          <a:p>
            <a:endParaRPr lang="en-GB" sz="2000" dirty="0"/>
          </a:p>
          <a:p>
            <a:r>
              <a:rPr lang="en-GB" sz="2000" dirty="0"/>
              <a:t>SUM(CASE WHEN ... THEN 1 ELSE 0 END) adds 1 for each matching record, giving gender-specific totals.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0589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C66C-4F70-1DEA-B1D3-FF504DB1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/>
              <a:t>Trigger - Add New Customer Transaction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A7EC1-ECE5-CB9F-D4B7-19C9744A1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Process:</a:t>
            </a:r>
            <a:r>
              <a:rPr lang="en-IN" sz="2000" dirty="0"/>
              <a:t> AFTER INSERT trigger on transaction import automatically inserts a new transaction record for the same customer</a:t>
            </a:r>
            <a:r>
              <a:rPr lang="en-IN" dirty="0"/>
              <a:t>.</a:t>
            </a:r>
          </a:p>
          <a:p>
            <a:r>
              <a:rPr lang="en-IN" sz="2000" b="1" dirty="0"/>
              <a:t>Purpose:</a:t>
            </a:r>
            <a:r>
              <a:rPr lang="en-IN" sz="2000" dirty="0"/>
              <a:t> Automate transaction creation for testing or simulation without manual entry.</a:t>
            </a:r>
          </a:p>
          <a:p>
            <a:r>
              <a:rPr lang="en-IN" sz="2000" b="1" dirty="0"/>
              <a:t>Focus:</a:t>
            </a:r>
            <a:r>
              <a:rPr lang="en-IN" sz="2000" dirty="0"/>
              <a:t> Automate transaction entry while keeping main data safe.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33818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157</TotalTime>
  <Words>510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Baskerville Old Face</vt:lpstr>
      <vt:lpstr>Gill Sans MT</vt:lpstr>
      <vt:lpstr>Wingdings 2</vt:lpstr>
      <vt:lpstr>Dividend</vt:lpstr>
      <vt:lpstr>       Bank Customer Transaction Analysis</vt:lpstr>
      <vt:lpstr>Total no.of Unique Customers</vt:lpstr>
      <vt:lpstr>Monthly transaction trends</vt:lpstr>
      <vt:lpstr>Customer counts as per RFM segment with Active vs Inactive customer</vt:lpstr>
      <vt:lpstr>Top 10 customers Domestic and Foreign</vt:lpstr>
      <vt:lpstr>Overall Male vs Female ratio</vt:lpstr>
      <vt:lpstr>Trigger - Add New Customer Transaction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Nandhine Pandurangan</dc:creator>
  <cp:lastModifiedBy>Nandhine Pandurangan</cp:lastModifiedBy>
  <cp:revision>9</cp:revision>
  <dcterms:created xsi:type="dcterms:W3CDTF">2025-10-07T18:57:57Z</dcterms:created>
  <dcterms:modified xsi:type="dcterms:W3CDTF">2025-10-07T21:36:36Z</dcterms:modified>
</cp:coreProperties>
</file>